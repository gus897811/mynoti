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4754880"/>
            <a:ext cx="2926080" cy="2926080"/>
          </a:xfrm>
          <a:prstGeom prst="ellipse">
            <a:avLst/>
          </a:prstGeom>
          <a:solidFill>
            <a:srgbClr val="172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3B82F6"/>
                </a:solidFill>
                <a:latin typeface="Malgun Gothic"/>
                <a:ea typeface="Malgun Gothic"/>
              </a:rPr>
              <a:t>PROJECT 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6600" b="1">
                <a:solidFill>
                  <a:srgbClr val="FFFFFF"/>
                </a:solidFill>
                <a:latin typeface="Malgun Gothic"/>
                <a:ea typeface="Malgun Gothic"/>
              </a:rPr>
              <a:t>MyNoti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>
                <a:solidFill>
                  <a:srgbClr val="93C5FD"/>
                </a:solidFill>
                <a:latin typeface="Malgun Gothic"/>
                <a:ea typeface="Malgun Gothic"/>
              </a:rPr>
              <a:t>Smarter Alerts, Zero Noise.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CBD5E1"/>
                </a:solidFill>
                <a:latin typeface="Malgun Gothic"/>
                <a:ea typeface="Malgun Gothic"/>
              </a:rPr>
              <a:t>잠에서 깨도, 중요한 알림만 남아 있게.
대학생을 위한 스마트 알림 정리 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074920"/>
            <a:ext cx="192024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03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Malgun Gothic"/>
                <a:ea typeface="Malgun Gothic"/>
              </a:rPr>
              <a:t>알림 분석  ·  리마인더  ·  캘린더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  <a:ea typeface="Malgun Gothic"/>
              </a:rPr>
              <a:t>오늘 이야기할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3B82F6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111827"/>
                </a:solidFill>
                <a:latin typeface="Malgun Gothic"/>
                <a:ea typeface="Malgun Gothic"/>
              </a:rPr>
              <a:t>기획 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알림은 끄기도, 켜두기도 어려운 이유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3B82F6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111827"/>
                </a:solidFill>
                <a:latin typeface="Malgun Gothic"/>
                <a:ea typeface="Malgun Gothic"/>
              </a:rPr>
              <a:t>주요 기능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060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분석 · 알람 · 캘린더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6616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3B82F6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348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111827"/>
                </a:solidFill>
                <a:latin typeface="Malgun Gothic"/>
                <a:ea typeface="Malgun Gothic"/>
              </a:rPr>
              <a:t>시스템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알림이 들어와서 화면에 보이기까지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6616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8862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3B82F6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4348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111827"/>
                </a:solidFill>
                <a:latin typeface="Malgun Gothic"/>
                <a:ea typeface="Malgun Gothic"/>
              </a:rPr>
              <a:t>시연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846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실제 앱으로 이어서 보여드립니다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MyNoti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2  / 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01  기획 배경  ·  어느 아침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  <a:ea typeface="Malgun Gothic"/>
              </a:rPr>
              <a:t>눈 떴는데, 알림이 47개.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6B7280"/>
                </a:solidFill>
                <a:latin typeface="Malgun Gothic"/>
                <a:ea typeface="Malgun Gothic"/>
              </a:rPr>
              <a:t>잠자는 동안 카톡, 수업 앱, 카드 앱이
한꺼번에 쌓여 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989320" cy="640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874520"/>
            <a:ext cx="274320" cy="274320"/>
          </a:xfrm>
          <a:prstGeom prst="ellipse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764792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  <a:ea typeface="Malgun Gothic"/>
              </a:rPr>
              <a:t>카카오톡  ·  김경래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002536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  <a:ea typeface="Malgun Gothic"/>
              </a:rPr>
              <a:t>ㅋㅋㅋㅋ ㄱㄱ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89280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방금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04872"/>
            <a:ext cx="5989320" cy="640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2587752"/>
            <a:ext cx="274320" cy="274320"/>
          </a:xfrm>
          <a:prstGeom prst="ellipse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47802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  <a:ea typeface="Malgun Gothic"/>
              </a:rPr>
              <a:t>카카오톡  ·  광고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71576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  <a:ea typeface="Malgun Gothic"/>
              </a:rPr>
              <a:t>[봄맞이] 세일 50% 오늘 마감!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60604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1분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18104"/>
            <a:ext cx="5989320" cy="640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" y="3300984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191256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  <a:ea typeface="Malgun Gothic"/>
              </a:rPr>
              <a:t>LearningX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429000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  <a:ea typeface="Malgun Gothic"/>
              </a:rPr>
              <a:t>로그인되었습니다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331927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3분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31336"/>
            <a:ext cx="5989320" cy="640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232" y="4014216"/>
            <a:ext cx="274320" cy="27432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3904488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  <a:ea typeface="Malgun Gothic"/>
              </a:rPr>
              <a:t>신한카드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142232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  <a:ea typeface="Malgun Gothic"/>
              </a:rPr>
              <a:t>[이벤트] 이번 주 캐시백 혜택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032504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8분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44568"/>
            <a:ext cx="5989320" cy="640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4727448"/>
            <a:ext cx="274320" cy="274320"/>
          </a:xfrm>
          <a:prstGeom prst="ellipse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461772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  <a:ea typeface="Malgun Gothic"/>
              </a:rPr>
              <a:t>카카오톡  ·  팀장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4855464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  <a:ea typeface="Malgun Gothic"/>
              </a:rPr>
              <a:t>오늘 21시까지 GitHub 링크 제출…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745736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12분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257800"/>
            <a:ext cx="5989320" cy="640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3232" y="544068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" y="5330952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>
                <a:solidFill>
                  <a:srgbClr val="6B7280"/>
                </a:solidFill>
                <a:latin typeface="Malgun Gothic"/>
                <a:ea typeface="Malgun Gothic"/>
              </a:rPr>
              <a:t>LearningX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5568696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  <a:ea typeface="Malgun Gothic"/>
              </a:rPr>
              <a:t>캡스톤 중간보고서가 등록되었습니다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545896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20분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03720" y="1691640"/>
            <a:ext cx="4709160" cy="4343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0" y="19659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잠금화면 속마음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2377440"/>
            <a:ext cx="41148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  <a:ea typeface="Malgun Gothic"/>
              </a:rPr>
              <a:t>“…그래서
뭐가 중요한 건데?”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4023360"/>
            <a:ext cx="411480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CBD5E1"/>
                </a:solidFill>
                <a:latin typeface="Malgun Gothic"/>
                <a:ea typeface="Malgun Gothic"/>
              </a:rPr>
              <a:t>쓸데없는 내용도 많고,
처음부터 끝까지 읽기엔 너무 많다.
중요한 건 분명 섞여 있는데
찾으려면 전부 열어봐야 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MyNoti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3  / 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01  기획 배경  ·  딜레마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  <a:ea typeface="Malgun Gothic"/>
              </a:rPr>
              <a:t>그렇다고 그 앱 알림을 끄기도 뭐하다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440680" cy="4160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28016" cy="4160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DC2626"/>
                </a:solidFill>
                <a:latin typeface="Malgun Gothic"/>
                <a:ea typeface="Malgun Gothic"/>
              </a:rPr>
              <a:t>알림을 끄면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111827"/>
                </a:solidFill>
                <a:latin typeface="Malgun Gothic"/>
                <a:ea typeface="Malgun Gothic"/>
              </a:rPr>
              <a:t>중요한 메시지를
놓친다.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788920"/>
            <a:ext cx="4617720" cy="219456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97180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DC2626"/>
                </a:solidFill>
                <a:latin typeface="Malgun Gothic"/>
                <a:ea typeface="Malgun Gothic"/>
              </a:rPr>
              <a:t>다음 날, 팀장에게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42062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11827"/>
                </a:solidFill>
                <a:latin typeface="Malgun Gothic"/>
                <a:ea typeface="Malgun Gothic"/>
              </a:rPr>
              <a:t>“야 너 카톡 봤어?
오늘 21시까지라니까??
공지 안 읽었어?”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440680" cy="4160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128016" cy="4160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50876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EA580C"/>
                </a:solidFill>
                <a:latin typeface="Malgun Gothic"/>
                <a:ea typeface="Malgun Gothic"/>
              </a:rPr>
              <a:t>알림을 켜두면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874519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111827"/>
                </a:solidFill>
                <a:latin typeface="Malgun Gothic"/>
                <a:ea typeface="Malgun Gothic"/>
              </a:rPr>
              <a:t>정리가
안 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788920"/>
            <a:ext cx="4617720" cy="2194560"/>
          </a:xfrm>
          <a:prstGeom prst="roundRect">
            <a:avLst>
              <a:gd name="adj" fmla="val 10000"/>
            </a:avLst>
          </a:prstGeom>
          <a:solidFill>
            <a:srgbClr val="FFF8F1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97180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EA580C"/>
                </a:solidFill>
                <a:latin typeface="Malgun Gothic"/>
                <a:ea typeface="Malgun Gothic"/>
              </a:rPr>
              <a:t>한 줄에 섞여 있는 것들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337560"/>
            <a:ext cx="4206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algun Gothic"/>
                <a:ea typeface="Malgun Gothic"/>
              </a:rPr>
              <a:t>광고 · 잡담 · 로그인 알림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algun Gothic"/>
                <a:ea typeface="Malgun Gothic"/>
              </a:rPr>
              <a:t>과제 마감 · 수업 공지 · 정산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111827"/>
                </a:solidFill>
                <a:latin typeface="Malgun Gothic"/>
                <a:ea typeface="Malgun Gothic"/>
              </a:rPr>
              <a:t>중요한 것과 아닌 것의 경계가 없다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MyNoti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4  / 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01  기획 배경  ·  한 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  <a:ea typeface="Malgun Gothic"/>
              </a:rPr>
              <a:t>끄면 놓치고, 켜면 묻힌다.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3B82F6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  <a:ea typeface="Malgun Gothic"/>
              </a:rPr>
              <a:t>쌓인다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자고 일어나면 알림이 한꺼번에 올라온다.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5448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3B82F6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  <a:ea typeface="Malgun Gothic"/>
              </a:rPr>
              <a:t>섞인다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6888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광고 · 잡담 · 과제가 같은 목록에 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5448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3B82F6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65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  <a:ea typeface="Malgun Gothic"/>
              </a:rPr>
              <a:t>못 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6888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그 앱이 중요한 메시지를 보낼 수 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11880"/>
            <a:ext cx="11064240" cy="2331720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3B82F6"/>
                </a:solidFill>
                <a:latin typeface="Malgun Gothic"/>
                <a:ea typeface="Malgun Gothic"/>
              </a:rPr>
              <a:t>그래서 만든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5196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  <a:ea typeface="Malgun Gothic"/>
              </a:rPr>
              <a:t>알림은 그대로 받되, 중요한 것만 정리해서 보여준다.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8348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CBD5E1"/>
                </a:solidFill>
                <a:latin typeface="Malgun Gothic"/>
                <a:ea typeface="Malgun Gothic"/>
              </a:rPr>
              <a:t>MyNoti는 지정한 앱의 알림을 모아 LLM으로 분류·요약하고, 과제·마감·수업만 홈 · 요약 · 캘린더 · 리마인더로 남깁니다.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MyNoti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5  / 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02  주요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  <a:ea typeface="Malgun Gothic"/>
              </a:rPr>
              <a:t>세 가지로 알림을 다시 씁니다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611880" cy="4617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61188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3B82F6"/>
                </a:solidFill>
                <a:latin typeface="Malgun Gothic"/>
                <a:ea typeface="Malgun Gothic"/>
              </a:rPr>
              <a:t>2.1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  <a:ea typeface="Malgun Gothic"/>
              </a:rPr>
              <a:t>알림 받아서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6B7280"/>
                </a:solidFill>
                <a:latin typeface="Malgun Gothic"/>
                <a:ea typeface="Malgun Gothic"/>
              </a:rPr>
              <a:t>원문을 모아 요약하고
중요 · 과제 · 소통으로 분류합니다.
잡담과 광고는 걸러냅니다.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80160"/>
            <a:ext cx="3611880" cy="4617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80160"/>
            <a:ext cx="361188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459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EA580C"/>
                </a:solidFill>
                <a:latin typeface="Malgun Gothic"/>
                <a:ea typeface="Malgun Gothic"/>
              </a:rPr>
              <a:t>2.2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5740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  <a:ea typeface="Malgun Gothic"/>
              </a:rPr>
              <a:t>알람 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154680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6B7280"/>
                </a:solidFill>
                <a:latin typeface="Malgun Gothic"/>
                <a:ea typeface="Malgun Gothic"/>
              </a:rPr>
              <a:t>다시 알려줄 시각을 걸고,
중요/숨김 키워드와
감시할 앱을 직접 고릅니다.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611880" cy="4617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6118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059669"/>
                </a:solidFill>
                <a:latin typeface="Malgun Gothic"/>
                <a:ea typeface="Malgun Gothic"/>
              </a:rPr>
              <a:t>2.3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5740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  <a:ea typeface="Malgun Gothic"/>
              </a:rPr>
              <a:t>캘린더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154680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6B7280"/>
                </a:solidFill>
                <a:latin typeface="Malgun Gothic"/>
                <a:ea typeface="Malgun Gothic"/>
              </a:rPr>
              <a:t>알림에서 뽑은 마감이
달력에 올라갑니다.
직접 일정을 추가할 수도 있습니다.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MyNoti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6  / 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02  주요 기능  · 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  <a:ea typeface="Malgun Gothic"/>
              </a:rPr>
              <a:t>알림을 받아서, 분석합니다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6720840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527048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00200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3B82F6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9903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09928"/>
            <a:ext cx="557784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  <a:ea typeface="Malgun Gothic"/>
              </a:rPr>
              <a:t>카톡 · LearningX · 카드앱 등
지정한 앱의 알림만 모읍니다.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04872"/>
            <a:ext cx="6720840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2697480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770632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3B82F6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69464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1차 필터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880360"/>
            <a:ext cx="557784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  <a:ea typeface="Malgun Gothic"/>
              </a:rPr>
              <a:t>잡담 · 광고 · 로그인 알림처럼
볼 필요 없는 것은 버립니다.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75304"/>
            <a:ext cx="6720840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3867912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41064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3B82F6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739896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본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050792"/>
            <a:ext cx="557784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  <a:ea typeface="Malgun Gothic"/>
              </a:rPr>
              <a:t>제목 요약, 유형, 중요도,
마감 시각을 뽑아냅니다.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45736"/>
            <a:ext cx="6720840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5038344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111496"/>
            <a:ext cx="475488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3B82F6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91032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221224"/>
            <a:ext cx="557784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  <a:ea typeface="Malgun Gothic"/>
              </a:rPr>
              <a:t>홈에서 카드로 보고,
중요 알림은 한눈에 띄게 합니다.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0104" y="1234440"/>
            <a:ext cx="2381308" cy="5074920"/>
          </a:xfrm>
          <a:prstGeom prst="roundRect">
            <a:avLst>
              <a:gd name="adj" fmla="val 1200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home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170432"/>
            <a:ext cx="2381308" cy="5074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MyNoti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7  / 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02  주요 기능  · 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  <a:ea typeface="Malgun Gothic"/>
              </a:rPr>
              <a:t>분석이 끝나면, 오늘이 한 장으로 남습니다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234440"/>
            <a:ext cx="2381308" cy="5074920"/>
          </a:xfrm>
          <a:prstGeom prst="roundRect">
            <a:avLst>
              <a:gd name="adj" fmla="val 1200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ummary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70432"/>
            <a:ext cx="2381308" cy="5074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520440" y="1234440"/>
            <a:ext cx="809244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399032"/>
            <a:ext cx="749807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숫자로 먼저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709928"/>
            <a:ext cx="7498079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중요한 알림 · 과제 · 예정된 일정을
세 장 카드로 보여줍니다.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404872"/>
            <a:ext cx="809244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569464"/>
            <a:ext cx="749807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가장 급한 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880360"/>
            <a:ext cx="7498079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오늘 처리해야 할 일을
마감 가까운 순으로 골라줍니다.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575304"/>
            <a:ext cx="809244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3739896"/>
            <a:ext cx="749807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AI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050792"/>
            <a:ext cx="7498079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지금 무엇을 먼저 할지
한 문장으로 추천합니다.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4745736"/>
            <a:ext cx="8092440" cy="1060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4910328"/>
            <a:ext cx="749807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다시 알림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5221224"/>
            <a:ext cx="7498079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직접 걸어 둔 리마인더를
시간대별로 모아 보여줍니다.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MyNoti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8  / 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02  주요 기능  · 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  <a:ea typeface="Malgun Gothic"/>
              </a:rPr>
              <a:t>다시 알려주고, 규칙을 내가 정합니다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07008"/>
            <a:ext cx="3977639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46304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0817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리마인더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47088"/>
            <a:ext cx="34747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알림 하나에 ‘이때 다시 울려줘’를 겁니다.
시간이 되면 MyNoti가 다시 알려줍니다.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207008"/>
            <a:ext cx="3977639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65192" y="146304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9512" y="140817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중요 키워드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1847088"/>
            <a:ext cx="34747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과제 · 시험 · 마감 · 긴급 · 장학금.
이 단어가 있으면 중요으로 표시합니다.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38728"/>
            <a:ext cx="3977639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37947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73989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숨길 키워드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178808"/>
            <a:ext cx="34747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광고 · 세일 · 프로모션 · spam.
목록에서 숨깁니다. 원문은 기기에 남습니다.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3538728"/>
            <a:ext cx="3977639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65192" y="37947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9512" y="373989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타겟 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4178808"/>
            <a:ext cx="34747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감시할 앱을 켜고 끕니다.
꺼 둔 앱의 새 알림은 모으지 않습니다.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234440"/>
            <a:ext cx="2381308" cy="5074920"/>
          </a:xfrm>
          <a:prstGeom prst="roundRect">
            <a:avLst>
              <a:gd name="adj" fmla="val 1200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keywords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170432"/>
            <a:ext cx="2381308" cy="5074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MyNoti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9  / 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02  주요 기능  ·  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  <a:ea typeface="Malgun Gothic"/>
              </a:rPr>
              <a:t>알림 속 마감이, 달력으로 올라갑니다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6B7280"/>
                </a:solidFill>
                <a:latin typeface="Malgun Gothic"/>
                <a:ea typeface="Malgun Gothic"/>
              </a:rPr>
              <a:t>분석이 날짜를 찾으면 캘린더에 자동으로 찍힙니다.
직접 ‘+ 일정 추가’로 넣을 수도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6812280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9384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자동 일정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21992"/>
            <a:ext cx="630936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  <a:ea typeface="Malgun Gothic"/>
              </a:rPr>
              <a:t>LLM이 알림에서 뽑은 마감 시각.
예: “오늘 Basic반 4시 수업”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6812280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80944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수동 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73552"/>
            <a:ext cx="630936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  <a:ea typeface="Malgun Gothic"/>
              </a:rPr>
              <a:t>사용자가 직접 제목과 시간을 넣습니다.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6812280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32504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하루 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25112"/>
            <a:ext cx="630936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  <a:ea typeface="Malgun Gothic"/>
              </a:rPr>
              <a:t>날짜를 누르면 그날 알림·일정이
카드로 펼쳐집니다.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60"/>
            <a:ext cx="6812280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84064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색 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76672"/>
            <a:ext cx="630936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  <a:ea typeface="Malgun Gothic"/>
              </a:rPr>
              <a:t>날짜 아래 점으로 일정이 있는 날을
한눈에 봅니다.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27264" y="1234440"/>
            <a:ext cx="2381308" cy="5074920"/>
          </a:xfrm>
          <a:prstGeom prst="roundRect">
            <a:avLst>
              <a:gd name="adj" fmla="val 1200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alendar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170432"/>
            <a:ext cx="2381308" cy="5074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MyNoti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10  / 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03  시스템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  <a:ea typeface="Malgun Gothic"/>
              </a:rPr>
              <a:t>역할이 갈린 세 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611880" cy="3063240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BFDBFE"/>
                </a:solidFill>
                <a:latin typeface="Malgun Gothic"/>
                <a:ea typeface="Malgun Gothic"/>
              </a:rPr>
              <a:t>사용자 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MyNoti 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E2E8F0"/>
                </a:solidFill>
                <a:latin typeface="Malgun Gothic"/>
                <a:ea typeface="Malgun Gothic"/>
              </a:rPr>
              <a:t>알림을 가로채고, Room에 원문을 보관하고,
홈 · 요약 · 캘린더 · 리마인더로 보여줍니다.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3611880" cy="3063240"/>
          </a:xfrm>
          <a:prstGeom prst="roundRect">
            <a:avLst>
              <a:gd name="adj" fmla="val 7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087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BFDBFE"/>
                </a:solidFill>
                <a:latin typeface="Malgun Gothic"/>
                <a:ea typeface="Malgun Gothic"/>
              </a:rPr>
              <a:t>우리 서버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19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MyNoti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5176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E2E8F0"/>
                </a:solidFill>
                <a:latin typeface="Malgun Gothic"/>
                <a:ea typeface="Malgun Gothic"/>
              </a:rPr>
              <a:t>FastAPI 게이트웨이.
분석만 하고, 알림을 저장하지 않습니다.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611880" cy="3063240"/>
          </a:xfrm>
          <a:prstGeom prst="roundRect">
            <a:avLst>
              <a:gd name="adj" fmla="val 7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087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D1FAE5"/>
                </a:solidFill>
                <a:latin typeface="Malgun Gothic"/>
                <a:ea typeface="Malgun Gothic"/>
              </a:rPr>
              <a:t>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874519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5176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E2E8F0"/>
                </a:solidFill>
                <a:latin typeface="Malgun Gothic"/>
                <a:ea typeface="Malgun Gothic"/>
              </a:rPr>
              <a:t>1차: 보여줄 가치 있나?
2차: 요약 · 유형 · 중요도 · 마감.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36592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  <a:ea typeface="Malgun Gothic"/>
              </a:rPr>
              <a:t>원문은 폰에만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47488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  <a:ea typeface="Malgun Gothic"/>
              </a:rPr>
              <a:t>사용자 알림의 원본은 Room(mynoti.db)입니다.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457200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736592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  <a:ea typeface="Malgun Gothic"/>
              </a:rPr>
              <a:t>키도 갈린다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047488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  <a:ea typeface="Malgun Gothic"/>
              </a:rPr>
              <a:t>앱은 API 키만, OpenAI 키는 서버에만 있습니다.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57200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4736592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  <a:ea typeface="Malgun Gothic"/>
              </a:rPr>
              <a:t>키워드는 앱에서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047488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Malgun Gothic"/>
                <a:ea typeface="Malgun Gothic"/>
              </a:rPr>
              <a:t>Highlight / Mute는 서버가 모릅니다. 목록 표시 때 적용합니다.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MyNoti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11  / 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03  시스템 구조  · 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  <a:ea typeface="Malgun Gothic"/>
              </a:rPr>
              <a:t>알림이 화면에 보이기까지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07008"/>
            <a:ext cx="17830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604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9844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57276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발생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938528"/>
            <a:ext cx="1554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카톡 · 수업앱
카드앱 알림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67128" y="1920240"/>
            <a:ext cx="237744" cy="146304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77440" y="1207008"/>
            <a:ext cx="17830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604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129844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157276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수집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1938528"/>
            <a:ext cx="1554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Listener가
원문을 가로챔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33088" y="1920240"/>
            <a:ext cx="237744" cy="146304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1207008"/>
            <a:ext cx="17830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604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29844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157276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1938528"/>
            <a:ext cx="1554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Room에 PENDING
으로 넣음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99048" y="1920240"/>
            <a:ext cx="237744" cy="146304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1207008"/>
            <a:ext cx="17830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604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129844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157276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1938528"/>
            <a:ext cx="1554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Worker가
백엔드로 요청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065008" y="1920240"/>
            <a:ext cx="237744" cy="146304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75320" y="1207008"/>
            <a:ext cx="1783080" cy="169164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8" y="129844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157276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판단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1938528"/>
            <a:ext cx="1554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>
                <a:solidFill>
                  <a:srgbClr val="DBEAFE"/>
                </a:solidFill>
                <a:latin typeface="Malgun Gothic"/>
                <a:ea typeface="Malgun Gothic"/>
              </a:rPr>
              <a:t>LLM 필터
+ 본 분석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030968" y="1920240"/>
            <a:ext cx="237744" cy="146304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241280" y="1207008"/>
            <a:ext cx="178308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604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51008" y="129844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8" y="157276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Malgun Gothic"/>
                <a:ea typeface="Malgun Gothic"/>
              </a:rPr>
              <a:t>표시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008" y="1938528"/>
            <a:ext cx="1554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홈 · 요약
캘린더 · 알람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3154680"/>
            <a:ext cx="553212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31012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DC2626"/>
                </a:solidFill>
                <a:latin typeface="Malgun Gothic"/>
                <a:ea typeface="Malgun Gothic"/>
              </a:rPr>
              <a:t>필터에 걸리면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703320"/>
            <a:ext cx="507492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잡담 · 광고 · 로그인 알림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본 분석을 건너뛰고 Room에서 삭제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홈 목록에 남지 않음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중요한 알림을 숨기지 않도록, 필터 실패 시에는 통과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3154680"/>
            <a:ext cx="553212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31012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059669"/>
                </a:solidFill>
                <a:latin typeface="Malgun Gothic"/>
                <a:ea typeface="Malgun Gothic"/>
              </a:rPr>
              <a:t>분석에 통과하면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703320"/>
            <a:ext cx="507492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요약 제목 · 유형 · 중요 여부 · 마감 시각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유형: 수업 / 과제 / 소통 / 금전 / 기타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마감이 있으면 캘린더 일정으로 연결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Malgun Gothic"/>
                <a:ea typeface="Malgun Gothic"/>
              </a:rPr>
              <a:t>사용자는 그 알림에 리마인더를 걸 수 있음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MyNoti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12  / 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03  시스템 구조  ·  한 장 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  <a:ea typeface="Malgun Gothic"/>
              </a:rPr>
              <a:t>누가 무엇을 하는가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07008"/>
            <a:ext cx="2176272" cy="50292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타겟 앱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709928"/>
            <a:ext cx="36576" cy="4160520"/>
          </a:xfrm>
          <a:prstGeom prst="rect">
            <a:avLst/>
          </a:prstGeom>
          <a:solidFill>
            <a:srgbClr val="E8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" y="1965960"/>
            <a:ext cx="1956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67128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>
                <a:solidFill>
                  <a:srgbClr val="111827"/>
                </a:solidFill>
                <a:latin typeface="Malgun Gothic"/>
                <a:ea typeface="Malgun Gothic"/>
              </a:rPr>
              <a:t>알림을 띄움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207008"/>
            <a:ext cx="2176272" cy="50292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298448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Android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1709928"/>
            <a:ext cx="36576" cy="4160520"/>
          </a:xfrm>
          <a:prstGeom prst="rect">
            <a:avLst/>
          </a:prstGeom>
          <a:solidFill>
            <a:srgbClr val="E8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52928" y="1965960"/>
            <a:ext cx="1956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167128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>
                <a:solidFill>
                  <a:srgbClr val="111827"/>
                </a:solidFill>
                <a:latin typeface="Malgun Gothic"/>
                <a:ea typeface="Malgun Gothic"/>
              </a:rPr>
              <a:t>Listener 수집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2928" y="2880360"/>
            <a:ext cx="1956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3081528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>
                <a:solidFill>
                  <a:srgbClr val="111827"/>
                </a:solidFill>
                <a:latin typeface="Malgun Gothic"/>
                <a:ea typeface="Malgun Gothic"/>
              </a:rPr>
              <a:t>Room 저장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2928" y="3794760"/>
            <a:ext cx="1956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3995928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>
                <a:solidFill>
                  <a:srgbClr val="111827"/>
                </a:solidFill>
                <a:latin typeface="Malgun Gothic"/>
                <a:ea typeface="Malgun Gothic"/>
              </a:rPr>
              <a:t>Worker 예약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52928" y="4709160"/>
            <a:ext cx="1956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910328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>
                <a:solidFill>
                  <a:srgbClr val="111827"/>
                </a:solidFill>
                <a:latin typeface="Malgun Gothic"/>
                <a:ea typeface="Malgun Gothic"/>
              </a:rPr>
              <a:t>화면 표시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1207008"/>
            <a:ext cx="2176272" cy="50292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298448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Backend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1709928"/>
            <a:ext cx="36576" cy="4160520"/>
          </a:xfrm>
          <a:prstGeom prst="rect">
            <a:avLst/>
          </a:prstGeom>
          <a:solidFill>
            <a:srgbClr val="E8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84648" y="1965960"/>
            <a:ext cx="1956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2167128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>
                <a:solidFill>
                  <a:srgbClr val="111827"/>
                </a:solidFill>
                <a:latin typeface="Malgun Gothic"/>
                <a:ea typeface="Malgun Gothic"/>
              </a:rPr>
              <a:t>API 키 확인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84648" y="2880360"/>
            <a:ext cx="1956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800" y="3081528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>
                <a:solidFill>
                  <a:srgbClr val="111827"/>
                </a:solidFill>
                <a:latin typeface="Malgun Gothic"/>
                <a:ea typeface="Malgun Gothic"/>
              </a:rPr>
              <a:t>필터 모델 호출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84648" y="3794760"/>
            <a:ext cx="1956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3995928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>
                <a:solidFill>
                  <a:srgbClr val="111827"/>
                </a:solidFill>
                <a:latin typeface="Malgun Gothic"/>
                <a:ea typeface="Malgun Gothic"/>
              </a:rPr>
              <a:t>본 분석 호출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84648" y="4709160"/>
            <a:ext cx="1956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4910328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>
                <a:solidFill>
                  <a:srgbClr val="111827"/>
                </a:solidFill>
                <a:latin typeface="Malgun Gothic"/>
                <a:ea typeface="Malgun Gothic"/>
              </a:rPr>
              <a:t>결과만 반환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1207008"/>
            <a:ext cx="2176272" cy="50292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1298448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OpenAI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1709928"/>
            <a:ext cx="36576" cy="4160520"/>
          </a:xfrm>
          <a:prstGeom prst="rect">
            <a:avLst/>
          </a:prstGeom>
          <a:solidFill>
            <a:srgbClr val="E8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516368" y="1965960"/>
            <a:ext cx="1956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2167128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>
                <a:solidFill>
                  <a:srgbClr val="111827"/>
                </a:solidFill>
                <a:latin typeface="Malgun Gothic"/>
                <a:ea typeface="Malgun Gothic"/>
              </a:rPr>
              <a:t>isRelevant?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16368" y="2880360"/>
            <a:ext cx="1956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3081528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>
                <a:solidFill>
                  <a:srgbClr val="111827"/>
                </a:solidFill>
                <a:latin typeface="Malgun Gothic"/>
                <a:ea typeface="Malgun Gothic"/>
              </a:rPr>
              <a:t>요약 JSON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38360" y="1207008"/>
            <a:ext cx="2176272" cy="502920"/>
          </a:xfrm>
          <a:prstGeom prst="roundRect">
            <a:avLst>
              <a:gd name="adj" fmla="val 16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60" y="1298448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사용자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744200" y="1709928"/>
            <a:ext cx="36576" cy="4160520"/>
          </a:xfrm>
          <a:prstGeom prst="rect">
            <a:avLst/>
          </a:prstGeom>
          <a:solidFill>
            <a:srgbClr val="E8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848088" y="1965960"/>
            <a:ext cx="1956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21240" y="2167128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>
                <a:solidFill>
                  <a:srgbClr val="111827"/>
                </a:solidFill>
                <a:latin typeface="Malgun Gothic"/>
                <a:ea typeface="Malgun Gothic"/>
              </a:rPr>
              <a:t>홈에서 확인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48088" y="2880360"/>
            <a:ext cx="1956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21240" y="3081528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>
                <a:solidFill>
                  <a:srgbClr val="111827"/>
                </a:solidFill>
                <a:latin typeface="Malgun Gothic"/>
                <a:ea typeface="Malgun Gothic"/>
              </a:rPr>
              <a:t>리마인더 설정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48088" y="3794760"/>
            <a:ext cx="1956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8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21240" y="3995928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>
                <a:solidFill>
                  <a:srgbClr val="111827"/>
                </a:solidFill>
                <a:latin typeface="Malgun Gothic"/>
                <a:ea typeface="Malgun Gothic"/>
              </a:rPr>
              <a:t>캘린더 확인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MyNoti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0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13  / 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>
                <a:solidFill>
                  <a:srgbClr val="3B82F6"/>
                </a:solidFill>
                <a:latin typeface="Malgun Gothic"/>
                <a:ea typeface="Malgun Gothic"/>
              </a:rPr>
              <a:t>04 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  <a:ea typeface="Malgun Gothic"/>
              </a:rPr>
              <a:t>이제 앱으로 이어집니다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6B7280"/>
                </a:solidFill>
                <a:latin typeface="Malgun Gothic"/>
                <a:ea typeface="Malgun Gothic"/>
              </a:rPr>
              <a:t>발표를 잠시 멈추고, 실제 화면을 보여드리겠습니다.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3B82F6"/>
                </a:solidFill>
                <a:latin typeface="Malgun Gothic"/>
                <a:ea typeface="Malgun Gothic"/>
              </a:rPr>
              <a:t>1  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" y="1892808"/>
            <a:ext cx="1866430" cy="3977639"/>
          </a:xfrm>
          <a:prstGeom prst="roundRect">
            <a:avLst>
              <a:gd name="adj" fmla="val 1200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ome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866430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알림이 정리된 피드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46304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3B82F6"/>
                </a:solidFill>
                <a:latin typeface="Malgun Gothic"/>
                <a:ea typeface="Malgun Gothic"/>
              </a:rPr>
              <a:t>2  요약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95344" y="1892808"/>
            <a:ext cx="1866430" cy="3977639"/>
          </a:xfrm>
          <a:prstGeom prst="roundRect">
            <a:avLst>
              <a:gd name="adj" fmla="val 1200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ummary_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828800"/>
            <a:ext cx="186643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29000" y="59436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오늘 할 일 ·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3B82F6"/>
                </a:solidFill>
                <a:latin typeface="Malgun Gothic"/>
                <a:ea typeface="Malgun Gothic"/>
              </a:rPr>
              <a:t>3  캘린더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21424" y="1892808"/>
            <a:ext cx="1866430" cy="3977639"/>
          </a:xfrm>
          <a:prstGeom prst="roundRect">
            <a:avLst>
              <a:gd name="adj" fmla="val 1200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lendar_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828800"/>
            <a:ext cx="1866430" cy="39776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5080" y="59436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마감이 찍힌 달력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46304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3B82F6"/>
                </a:solidFill>
                <a:latin typeface="Malgun Gothic"/>
                <a:ea typeface="Malgun Gothic"/>
              </a:rPr>
              <a:t>4  설정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47504" y="1892808"/>
            <a:ext cx="1866430" cy="3977639"/>
          </a:xfrm>
          <a:prstGeom prst="roundRect">
            <a:avLst>
              <a:gd name="adj" fmla="val 1200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keywords_rou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1828800"/>
            <a:ext cx="1866430" cy="397763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81160" y="59436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키워드 · 타겟 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MyNoti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653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14  / 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389120"/>
            <a:ext cx="3657600" cy="36576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72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200" b="1">
                <a:solidFill>
                  <a:srgbClr val="FFFFFF"/>
                </a:solidFill>
                <a:latin typeface="Malgun Gothic"/>
                <a:ea typeface="Malgun Gothic"/>
              </a:rPr>
              <a:t>감사합니다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>
                <a:solidFill>
                  <a:srgbClr val="93C5FD"/>
                </a:solidFill>
                <a:latin typeface="Malgun Gothic"/>
                <a:ea typeface="Malgun Gothic"/>
              </a:rPr>
              <a:t>질문 있으시면 편하게 해주세요.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1645920" cy="548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Malgun Gothic"/>
                <a:ea typeface="Malgun Gothic"/>
              </a:rPr>
              <a:t>MyNoti  ·  Smarter Alerts, Zero Noise.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